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457200"/>
            <a:ext cx="2743200" cy="2743200"/>
          </a:xfrm>
          <a:prstGeom prst="triangle">
            <a:avLst/>
          </a:prstGeom>
          <a:solidFill>
            <a:srgbClr val="E8FF47">
              <a:alpha val="8000"/>
            </a:srgbClr>
          </a:solidFill>
          <a:ln w="12700">
            <a:solidFill>
              <a:srgbClr val="E8FF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E8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REVIEW · RAVENSTACK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Events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2024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8046720" cy="13716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 ANALYZED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1760" y="269748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651760" y="2907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2023–Dec 2024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REFUNDS ISSUED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754880" y="2907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$8,652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269748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REACTIVATION RATE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858000" y="2907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FF47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0" y="320040"/>
            <a:ext cx="5394960" cy="6400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2976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47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9080" y="4754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&amp; Acceleration of Churn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06640" y="5212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3474720" y="1088136"/>
            <a:ext cx="5394960" cy="6400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19786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47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69080" y="12435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Cause Breakdown by Reason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12893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474720" y="1856232"/>
            <a:ext cx="5394960" cy="6400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9659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47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Feedback Themes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2057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OF CUSTOMER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3474720" y="2624328"/>
            <a:ext cx="5394960" cy="6400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273405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47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69080" y="27797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Pre-Churn Behavioral Signals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28254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 WARNING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474720" y="3392424"/>
            <a:ext cx="5394960" cy="6400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50215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47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9080" y="3547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Impact &amp; Refund Exposure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3593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474720" y="4160520"/>
            <a:ext cx="5394960" cy="6400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427024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47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69080" y="43159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 Implications &amp; Actions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4361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E8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Accelerating Fast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920240" cy="137160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1920240" cy="27432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447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CHURNS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248716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across 24 months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651760" y="1325880"/>
            <a:ext cx="1920240" cy="137160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325880"/>
            <a:ext cx="192024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4447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2024 ALONE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761488" y="1645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61488" y="248716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42% of all-time events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1920240" cy="137160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25880"/>
            <a:ext cx="1920240" cy="27432"/>
          </a:xfrm>
          <a:prstGeom prst="rect">
            <a:avLst/>
          </a:prstGeom>
          <a:solidFill>
            <a:srgbClr val="47C4FF"/>
          </a:solidFill>
          <a:ln w="12700">
            <a:solidFill>
              <a:srgbClr val="47C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4447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 2024 PEAK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864608" y="1645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64608" y="248716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highest single month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858000" y="1325880"/>
            <a:ext cx="1920240" cy="137160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1325880"/>
            <a:ext cx="1920240" cy="27432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4447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 Q3→Q4 '24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967728" y="1645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+93%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67728" y="248716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quarter-over-quarter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8046720" cy="59436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926080"/>
            <a:ext cx="45720" cy="59436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CRITICAL: Monthly churn was under 30 for the first 18 months. It crossed 50 in September 2024 and nearly doubled again by December — this is not a gradual trend, it is a step-change that requires immediate attention.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0"/>
            <a:ext cx="13716" cy="5143500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E8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ACCELERATION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December 2024 churns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single month now accounts for nearly 1-in-5 of all churn events logged over two years.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2926080" cy="13716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992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29992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3383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events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37673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events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513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2-yr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4151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4,083%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34747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Churn Volume — Jan 2023 to Dec 2024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840480" y="4630615"/>
            <a:ext cx="187452" cy="32825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46220" y="4663440"/>
            <a:ext cx="187452" cy="0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4499317"/>
            <a:ext cx="187452" cy="164123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57700" y="4564966"/>
            <a:ext cx="187452" cy="98474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4564966"/>
            <a:ext cx="187452" cy="98474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9180" y="4499317"/>
            <a:ext cx="187452" cy="164123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4466492"/>
            <a:ext cx="187452" cy="196948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0660" y="4433668"/>
            <a:ext cx="187452" cy="229772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4466492"/>
            <a:ext cx="187452" cy="196948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92140" y="4335194"/>
            <a:ext cx="187452" cy="328246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4302369"/>
            <a:ext cx="187452" cy="361071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03620" y="4138246"/>
            <a:ext cx="187452" cy="525194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4006948"/>
            <a:ext cx="187452" cy="656492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5100" y="4335194"/>
            <a:ext cx="187452" cy="328246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3875649"/>
            <a:ext cx="187452" cy="787791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26580" y="3842825"/>
            <a:ext cx="187452" cy="820615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3777175"/>
            <a:ext cx="187452" cy="886265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38060" y="3350455"/>
            <a:ext cx="187452" cy="1312985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3800" y="3514578"/>
            <a:ext cx="187452" cy="1148862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49540" y="3284806"/>
            <a:ext cx="187452" cy="1378634"/>
          </a:xfrm>
          <a:prstGeom prst="rect">
            <a:avLst/>
          </a:prstGeom>
          <a:solidFill>
            <a:srgbClr val="E8FF47">
              <a:alpha val="85000"/>
            </a:srgbClr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0" y="2923735"/>
            <a:ext cx="187452" cy="1739705"/>
          </a:xfrm>
          <a:prstGeom prst="rect">
            <a:avLst/>
          </a:prstGeom>
          <a:solidFill>
            <a:srgbClr val="FF6B47">
              <a:alpha val="85000"/>
            </a:srgbClr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61020" y="2497015"/>
            <a:ext cx="187452" cy="2166425"/>
          </a:xfrm>
          <a:prstGeom prst="rect">
            <a:avLst/>
          </a:prstGeom>
          <a:solidFill>
            <a:srgbClr val="FF6B47">
              <a:alpha val="85000"/>
            </a:srgbClr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66760" y="2431366"/>
            <a:ext cx="187452" cy="2232074"/>
          </a:xfrm>
          <a:prstGeom prst="rect">
            <a:avLst/>
          </a:prstGeom>
          <a:solidFill>
            <a:srgbClr val="FF6B47">
              <a:alpha val="85000"/>
            </a:srgbClr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72500" y="822960"/>
            <a:ext cx="187452" cy="3840480"/>
          </a:xfrm>
          <a:prstGeom prst="rect">
            <a:avLst/>
          </a:prstGeom>
          <a:solidFill>
            <a:srgbClr val="FF4757">
              <a:alpha val="85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4773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'23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138160" y="47731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 '24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E8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CAUSE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Are Leaving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97480" cy="15544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1399032"/>
            <a:ext cx="109728" cy="109728"/>
          </a:xfrm>
          <a:prstGeom prst="ellipse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43560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67512" y="2130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2423160"/>
            <a:ext cx="2331720" cy="36576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2423160"/>
            <a:ext cx="2331720" cy="36576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53288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19.0% of churns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64992" y="1234440"/>
            <a:ext cx="2697480" cy="15544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88152" y="1399032"/>
            <a:ext cx="109728" cy="109728"/>
          </a:xfrm>
          <a:prstGeom prst="ellipse">
            <a:avLst/>
          </a:prstGeom>
          <a:solidFill>
            <a:srgbClr val="47C4FF"/>
          </a:solidFill>
          <a:ln w="12700">
            <a:solidFill>
              <a:srgbClr val="47C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143560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7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529584" y="2130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29584" y="2423160"/>
            <a:ext cx="2331720" cy="36576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9584" y="2423160"/>
            <a:ext cx="2127183" cy="36576"/>
          </a:xfrm>
          <a:prstGeom prst="rect">
            <a:avLst/>
          </a:prstGeom>
          <a:solidFill>
            <a:srgbClr val="47C4FF"/>
          </a:solidFill>
          <a:ln w="12700">
            <a:solidFill>
              <a:srgbClr val="47C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253288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17.3% of churns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227064" y="1234440"/>
            <a:ext cx="2697480" cy="15544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50224" y="1399032"/>
            <a:ext cx="109728" cy="109728"/>
          </a:xfrm>
          <a:prstGeom prst="ellipse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143560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391656" y="2130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91656" y="2423160"/>
            <a:ext cx="2331720" cy="36576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1656" y="2423160"/>
            <a:ext cx="2127183" cy="36576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253288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17.3% of churns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02920" y="2971800"/>
            <a:ext cx="2697480" cy="15544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3136392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17296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67512" y="38679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" y="4160520"/>
            <a:ext cx="2331720" cy="36576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4160520"/>
            <a:ext cx="19431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42702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15.8% of churns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364992" y="2971800"/>
            <a:ext cx="2697480" cy="15544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88152" y="3136392"/>
            <a:ext cx="109728" cy="109728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9584" y="317296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3529584" y="38679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29584" y="4160520"/>
            <a:ext cx="2331720" cy="36576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9584" y="4160520"/>
            <a:ext cx="1881739" cy="3657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9584" y="42702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15.3% of churns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227064" y="2971800"/>
            <a:ext cx="2697480" cy="15544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50224" y="3136392"/>
            <a:ext cx="109728" cy="109728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91656" y="317296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3800" dirty="0"/>
          </a:p>
        </p:txBody>
      </p:sp>
      <p:sp>
        <p:nvSpPr>
          <p:cNvPr id="42" name="Text 40"/>
          <p:cNvSpPr/>
          <p:nvPr/>
        </p:nvSpPr>
        <p:spPr>
          <a:xfrm>
            <a:off x="6391656" y="38679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91656" y="4160520"/>
            <a:ext cx="2331720" cy="36576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91656" y="4160520"/>
            <a:ext cx="1861285" cy="36576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91656" y="42702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15.2% of churns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0" y="0"/>
            <a:ext cx="13716" cy="5143500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E8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OF CUSTOMER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Said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452 of 600 churned accounts left free-text feedback. Three themes dominate — pointing at pricing, product gaps, and competitive pressure simultaneously.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3200400" cy="6400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834640"/>
            <a:ext cx="45720" cy="64008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NOTE: "Too expensive" + "budget" reason code together form the largest signal cluster — a pricing-value perception problem.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60520" y="731520"/>
            <a:ext cx="4572000" cy="10972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84124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15968" y="1389888"/>
            <a:ext cx="2560320" cy="45720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389888"/>
            <a:ext cx="2560320" cy="457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5087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35.6% of respondents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669280" y="868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Expensive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2029968"/>
            <a:ext cx="4572000" cy="10972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213969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315968" y="2688336"/>
            <a:ext cx="2560320" cy="45720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688336"/>
            <a:ext cx="2465588" cy="4572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8072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34.3% of respondents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669280" y="21671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0520" y="3328416"/>
            <a:ext cx="4572000" cy="10972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343814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4315968" y="3986784"/>
            <a:ext cx="2560320" cy="45720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3986784"/>
            <a:ext cx="2163470" cy="45720"/>
          </a:xfrm>
          <a:prstGeom prst="rect">
            <a:avLst/>
          </a:prstGeom>
          <a:solidFill>
            <a:srgbClr val="47C4FF"/>
          </a:solidFill>
          <a:ln w="12700">
            <a:solidFill>
              <a:srgbClr val="47C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5968" y="410565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30.1% of respondents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669280" y="346557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Competitor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60520" y="4663440"/>
            <a:ext cx="4572000" cy="27432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5968" y="468172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148 accounts gave no feedback — a lost signal worth addressing in offboarding flows.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E8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 WARNING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 Before Churn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011680" cy="17830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17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67512" y="21762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7512" y="24323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Preceded by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Upgrade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679192" y="1234440"/>
            <a:ext cx="2011680" cy="17830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43784" y="1417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843784" y="21762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43784" y="24323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Preceded by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Downgrade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855464" y="1234440"/>
            <a:ext cx="2011680" cy="17830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0056" y="1417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7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020056" y="21762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0056" y="24323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Reactivations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(returned after churn)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031736" y="1234440"/>
            <a:ext cx="2011680" cy="178308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96328" y="1417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7196328" y="21762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96328" y="24323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Prior Signal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8229600" cy="658368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00400"/>
            <a:ext cx="45720" cy="658368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UPGRADE-THEN-CHURN is critical: 1-in-5 churned accounts had recently upgraded. These customers invested more and felt underserved. A 30-day post-upgrade success check-in could intercept this cohort before dissatisfaction crystallizes.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0" y="0"/>
            <a:ext cx="13716" cy="5143500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E8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130552"/>
            <a:ext cx="3108960" cy="13716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refunds issued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$8,652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770632"/>
            <a:ext cx="3108960" cy="13716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67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 with refund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3410712"/>
            <a:ext cx="3108960" cy="13716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07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30906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4050792"/>
            <a:ext cx="3108960" cy="13716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47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(when issued)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3730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$60.93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42976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current acceleration, refund exposure could exceed $30K+ in 2025 without intervention.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60520" y="4114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 RATE BY REASON CODE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160520" y="777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777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60520" y="1051560"/>
            <a:ext cx="4526280" cy="45720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1051560"/>
            <a:ext cx="4526280" cy="4572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14356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14356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7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60520" y="1709928"/>
            <a:ext cx="4526280" cy="45720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0520" y="1709928"/>
            <a:ext cx="3960495" cy="45720"/>
          </a:xfrm>
          <a:prstGeom prst="rect">
            <a:avLst/>
          </a:prstGeom>
          <a:solidFill>
            <a:srgbClr val="47C4FF"/>
          </a:solidFill>
          <a:ln w="12700">
            <a:solidFill>
              <a:srgbClr val="47C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209397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20939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60520" y="2368296"/>
            <a:ext cx="4526280" cy="45720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0" y="2368296"/>
            <a:ext cx="3677603" cy="45720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275234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27523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60520" y="3026664"/>
            <a:ext cx="4526280" cy="45720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0520" y="3026664"/>
            <a:ext cx="3111818" cy="4572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4107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341071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60520" y="3685032"/>
            <a:ext cx="4526280" cy="45720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60520" y="3685032"/>
            <a:ext cx="2546033" cy="457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4069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63840" y="4069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60520" y="4343400"/>
            <a:ext cx="4526280" cy="45720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60520" y="4343400"/>
            <a:ext cx="2263140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60520" y="4617720"/>
            <a:ext cx="4572000" cy="36576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60520" y="4617720"/>
            <a:ext cx="45720" cy="365760"/>
          </a:xfrm>
          <a:prstGeom prst="rect">
            <a:avLst/>
          </a:prstGeom>
          <a:solidFill>
            <a:srgbClr val="E8FF47"/>
          </a:solidFill>
          <a:ln w="12700">
            <a:solidFill>
              <a:srgbClr val="E8FF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0" y="4617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 churns carry the highest refund rate — customers who feel wronged enough to demand compensation.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E8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 WHAT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160520" cy="169164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399032"/>
            <a:ext cx="457200" cy="457200"/>
          </a:xfrm>
          <a:prstGeom prst="rect">
            <a:avLst/>
          </a:prstGeom>
          <a:solidFill>
            <a:srgbClr val="1A1E28"/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4757"/>
                </a:solidFill>
              </a:rPr>
              <a:t>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compounding crisis, not steady-state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7512" y="198424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 went from single digits to triple digits per month in 18 months. This is not mean-reverting on its own.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67512" y="2670048"/>
            <a:ext cx="1280160" cy="182880"/>
          </a:xfrm>
          <a:prstGeom prst="rect">
            <a:avLst/>
          </a:prstGeom>
          <a:solidFill>
            <a:srgbClr val="1A1E28"/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6700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URGENCY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4160520" cy="169164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99032"/>
            <a:ext cx="457200" cy="457200"/>
          </a:xfrm>
          <a:prstGeom prst="rect">
            <a:avLst/>
          </a:prstGeom>
          <a:solidFill>
            <a:srgbClr val="1A1E28"/>
          </a:solidFill>
          <a:ln w="6350">
            <a:solidFill>
              <a:srgbClr val="E8FF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F47"/>
                </a:solidFill>
              </a:rPr>
              <a:t>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2356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+ pricing are the two levers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198424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and "too expensive" together dominate the signal — customers don't believe the product delivers enough for what it costs.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10912" y="2670048"/>
            <a:ext cx="1280160" cy="182880"/>
          </a:xfrm>
          <a:prstGeom prst="rect">
            <a:avLst/>
          </a:prstGeom>
          <a:solidFill>
            <a:srgbClr val="1A1E28"/>
          </a:solidFill>
          <a:ln w="6350">
            <a:solidFill>
              <a:srgbClr val="E8FF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26700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E8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· PRICING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02920" y="3063240"/>
            <a:ext cx="4160520" cy="169164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3227832"/>
            <a:ext cx="457200" cy="457200"/>
          </a:xfrm>
          <a:prstGeom prst="rect">
            <a:avLst/>
          </a:prstGeom>
          <a:solidFill>
            <a:srgbClr val="1A1E28"/>
          </a:solidFill>
          <a:ln w="6350">
            <a:solidFill>
              <a:srgbClr val="2ED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D573"/>
                </a:solidFill>
              </a:rPr>
              <a:t>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reactivation is an underexploited asset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512" y="381304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accounts returned without a program. A structured win-back campaign could convert a meaningful slice of the 539 who haven't.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7512" y="4498848"/>
            <a:ext cx="1280160" cy="182880"/>
          </a:xfrm>
          <a:prstGeom prst="rect">
            <a:avLst/>
          </a:prstGeom>
          <a:solidFill>
            <a:srgbClr val="1A1E28"/>
          </a:solidFill>
          <a:ln w="6350">
            <a:solidFill>
              <a:srgbClr val="2ED5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4988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2ED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846320" y="3063240"/>
            <a:ext cx="4160520" cy="169164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10912" y="3227832"/>
            <a:ext cx="457200" cy="457200"/>
          </a:xfrm>
          <a:prstGeom prst="rect">
            <a:avLst/>
          </a:prstGeom>
          <a:solidFill>
            <a:srgbClr val="1A1E28"/>
          </a:solidFill>
          <a:ln w="6350">
            <a:solidFill>
              <a:srgbClr val="47C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C4FF"/>
                </a:solidFill>
              </a:rPr>
              <a:t>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Upgrade-then-churn is an early warning system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10912" y="381304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20.5% of churns followed an upgrade. A 30-day post-upgrade check-in could intercept before dissatisfaction crystallizes.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10912" y="4498848"/>
            <a:ext cx="1280160" cy="182880"/>
          </a:xfrm>
          <a:prstGeom prst="rect">
            <a:avLst/>
          </a:prstGeom>
          <a:solidFill>
            <a:srgbClr val="1A1E28"/>
          </a:solidFill>
          <a:ln w="6350">
            <a:solidFill>
              <a:srgbClr val="47C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44988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47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MOTION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E8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ACTIONS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Do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321040" cy="82296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6245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30759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post-upgrade success motion within 30 days of any plan upgrade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636776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1-in-5 churns followed an upgrade. A proactive check-in targeting new upgrade cohorts could cut this signal significantly.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059168" y="1463040"/>
            <a:ext cx="1554480" cy="256032"/>
          </a:xfrm>
          <a:prstGeom prst="rect">
            <a:avLst/>
          </a:prstGeom>
          <a:solidFill>
            <a:srgbClr val="1A1E28"/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9168" y="14630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PRIORITY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502920" y="2167128"/>
            <a:ext cx="8321040" cy="82296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9514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2402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top 10 most-requested missing features — accelerate 2–3 to roadmap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2569464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is the #1 reason code. Closing visible gaps and communicating them directly addresses the largest churn driver.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059168" y="2395728"/>
            <a:ext cx="1554480" cy="256032"/>
          </a:xfrm>
          <a:prstGeom prst="rect">
            <a:avLst/>
          </a:prstGeom>
          <a:solidFill>
            <a:srgbClr val="1A1E28"/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2395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PRIORITY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02920" y="3099816"/>
            <a:ext cx="8321040" cy="82296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27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17296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win-back campaign targeting 539 non-reactivated accounts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350215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accounts returned without a program. A deliberate outreach sequence — especially to "too expensive" churns — could unlock re-activation.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59168" y="3328416"/>
            <a:ext cx="1554480" cy="256032"/>
          </a:xfrm>
          <a:prstGeom prst="rect">
            <a:avLst/>
          </a:prstGeom>
          <a:solidFill>
            <a:srgbClr val="1A1E28"/>
          </a:solidFill>
          <a:ln w="6350">
            <a:solidFill>
              <a:srgbClr val="FF6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33284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FF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02920" y="4032504"/>
            <a:ext cx="8321040" cy="822960"/>
          </a:xfrm>
          <a:prstGeom prst="rect">
            <a:avLst/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60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80160" y="410565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feedback on every offboarding flow — reduce the 25% no-feedback gap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80160" y="44348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148 accounts left silently. A mandatory one-click selector improves signal quality and closes attribution gaps in the "unknown" category.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59168" y="4261104"/>
            <a:ext cx="1554480" cy="256032"/>
          </a:xfrm>
          <a:prstGeom prst="rect">
            <a:avLst/>
          </a:prstGeom>
          <a:solidFill>
            <a:srgbClr val="1A1E28"/>
          </a:solidFill>
          <a:ln w="6350">
            <a:solidFill>
              <a:srgbClr val="47C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42611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47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WIN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RavenStack Churn Review 2023–2024</dc:title>
  <dc:subject>PptxGenJS Presentation</dc:subject>
  <dc:creator>PptxGenJS</dc:creator>
  <cp:lastModifiedBy>PptxGenJS</cp:lastModifiedBy>
  <cp:revision>1</cp:revision>
  <dcterms:created xsi:type="dcterms:W3CDTF">2026-06-01T07:16:30Z</dcterms:created>
  <dcterms:modified xsi:type="dcterms:W3CDTF">2026-06-01T07:16:30Z</dcterms:modified>
</cp:coreProperties>
</file>